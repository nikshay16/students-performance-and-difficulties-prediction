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8"/>
  </p:notesMasterIdLst>
  <p:sldIdLst>
    <p:sldId id="268" r:id="rId2"/>
    <p:sldId id="267" r:id="rId3"/>
    <p:sldId id="317" r:id="rId4"/>
    <p:sldId id="305" r:id="rId5"/>
    <p:sldId id="333" r:id="rId6"/>
    <p:sldId id="334" r:id="rId7"/>
    <p:sldId id="335" r:id="rId8"/>
    <p:sldId id="323" r:id="rId9"/>
    <p:sldId id="330" r:id="rId10"/>
    <p:sldId id="319" r:id="rId11"/>
    <p:sldId id="338" r:id="rId12"/>
    <p:sldId id="299" r:id="rId13"/>
    <p:sldId id="336" r:id="rId14"/>
    <p:sldId id="337" r:id="rId15"/>
    <p:sldId id="339" r:id="rId16"/>
    <p:sldId id="265"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53" autoAdjust="0"/>
    <p:restoredTop sz="94748"/>
  </p:normalViewPr>
  <p:slideViewPr>
    <p:cSldViewPr>
      <p:cViewPr varScale="1">
        <p:scale>
          <a:sx n="117" d="100"/>
          <a:sy n="117" d="100"/>
        </p:scale>
        <p:origin x="1528" y="184"/>
      </p:cViewPr>
      <p:guideLst>
        <p:guide orient="horz" pos="2160"/>
        <p:guide pos="2880"/>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7CA002-7A07-4C77-B65A-DC99F4DBBEBE}" type="datetimeFigureOut">
              <a:rPr lang="en-IN" smtClean="0"/>
              <a:t>13/05/26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A0F648-95B6-471F-AAA7-92D6D2AB8A40}" type="slidenum">
              <a:rPr lang="en-IN" smtClean="0"/>
              <a:t>‹#›</a:t>
            </a:fld>
            <a:endParaRPr lang="en-IN"/>
          </a:p>
        </p:txBody>
      </p:sp>
    </p:spTree>
    <p:extLst>
      <p:ext uri="{BB962C8B-B14F-4D97-AF65-F5344CB8AC3E}">
        <p14:creationId xmlns:p14="http://schemas.microsoft.com/office/powerpoint/2010/main" val="2521863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lvl1pPr>
              <a:defRPr sz="3200" b="1">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1D5BB0C6-8FC1-47C0-B737-D54E21B5B868}" type="datetimeFigureOut">
              <a:rPr lang="en-US" smtClean="0"/>
              <a:pPr/>
              <a:t>5/13/26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a:p>
        </p:txBody>
      </p:sp>
    </p:spTree>
  </p:cSld>
  <p:clrMapOvr>
    <a:masterClrMapping/>
  </p:clrMapOvr>
  <p:transition advTm="4000">
    <p:cu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p:cNvPicPr>
            <a:picLocks noChangeAspect="1"/>
          </p:cNvPicPr>
          <p:nvPr/>
        </p:nvPicPr>
        <p:blipFill>
          <a:blip r:embed="rId2"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5" name="Group 7"/>
          <p:cNvGrpSpPr>
            <a:grpSpLocks/>
          </p:cNvGrpSpPr>
          <p:nvPr/>
        </p:nvGrpSpPr>
        <p:grpSpPr bwMode="auto">
          <a:xfrm>
            <a:off x="6146800" y="0"/>
            <a:ext cx="2997200" cy="876300"/>
            <a:chOff x="6096000" y="3924300"/>
            <a:chExt cx="2997200" cy="876300"/>
          </a:xfrm>
        </p:grpSpPr>
        <p:sp>
          <p:nvSpPr>
            <p:cNvPr id="6"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7" name="Picture 9" descr="LOGO.gif"/>
            <p:cNvPicPr>
              <a:picLocks noChangeAspect="1"/>
            </p:cNvPicPr>
            <p:nvPr/>
          </p:nvPicPr>
          <p:blipFill>
            <a:blip r:embed="rId2" cstate="print"/>
            <a:srcRect b="10713"/>
            <a:stretch>
              <a:fillRect/>
            </a:stretch>
          </p:blipFill>
          <p:spPr bwMode="auto">
            <a:xfrm>
              <a:off x="6502400" y="4152900"/>
              <a:ext cx="2057400" cy="635000"/>
            </a:xfrm>
            <a:prstGeom prst="rect">
              <a:avLst/>
            </a:prstGeom>
            <a:noFill/>
            <a:ln w="9525">
              <a:noFill/>
              <a:miter lim="800000"/>
              <a:headEnd/>
              <a:tailEnd/>
            </a:ln>
          </p:spPr>
        </p:pic>
        <p:sp>
          <p:nvSpPr>
            <p:cNvPr id="8" name="Rectangle 7"/>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9" name="Picture 15" descr="logo.jpg"/>
          <p:cNvPicPr>
            <a:picLocks noChangeAspect="1"/>
          </p:cNvPicPr>
          <p:nvPr/>
        </p:nvPicPr>
        <p:blipFill>
          <a:blip r:embed="rId3" cstate="print"/>
          <a:srcRect/>
          <a:stretch>
            <a:fillRect/>
          </a:stretch>
        </p:blipFill>
        <p:spPr bwMode="auto">
          <a:xfrm>
            <a:off x="6553200" y="228600"/>
            <a:ext cx="1920875" cy="609600"/>
          </a:xfrm>
          <a:prstGeom prst="rect">
            <a:avLst/>
          </a:prstGeom>
          <a:noFill/>
          <a:ln w="9525">
            <a:noFill/>
            <a:miter lim="800000"/>
            <a:headEnd/>
            <a:tailEnd/>
          </a:ln>
        </p:spPr>
      </p:pic>
      <p:sp>
        <p:nvSpPr>
          <p:cNvPr id="2" name="Title 1"/>
          <p:cNvSpPr>
            <a:spLocks noGrp="1"/>
          </p:cNvSpPr>
          <p:nvPr>
            <p:ph type="title"/>
          </p:nvPr>
        </p:nvSpPr>
        <p:spPr/>
        <p:txBody>
          <a:bodyPr/>
          <a:lstStyle>
            <a:lvl1pPr>
              <a:defRPr sz="3200">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200">
                <a:latin typeface="Times New Roman" panose="02020603050405020304" pitchFamily="18" charset="0"/>
                <a:cs typeface="Times New Roman" panose="02020603050405020304" pitchFamily="18" charset="0"/>
              </a:defRPr>
            </a:lvl1pPr>
            <a:lvl2pPr>
              <a:defRPr sz="2200">
                <a:latin typeface="Times New Roman" panose="02020603050405020304" pitchFamily="18" charset="0"/>
                <a:cs typeface="Times New Roman" panose="02020603050405020304" pitchFamily="18" charset="0"/>
              </a:defRPr>
            </a:lvl2pPr>
            <a:lvl3pPr>
              <a:defRPr sz="2200">
                <a:latin typeface="Times New Roman" panose="02020603050405020304" pitchFamily="18" charset="0"/>
                <a:cs typeface="Times New Roman" panose="02020603050405020304" pitchFamily="18" charset="0"/>
              </a:defRPr>
            </a:lvl3pPr>
            <a:lvl4pPr>
              <a:defRPr sz="2200">
                <a:latin typeface="Times New Roman" panose="02020603050405020304" pitchFamily="18" charset="0"/>
                <a:cs typeface="Times New Roman" panose="02020603050405020304" pitchFamily="18" charset="0"/>
              </a:defRPr>
            </a:lvl4pPr>
            <a:lvl5pPr>
              <a:defRPr sz="220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3"/>
          <p:cNvSpPr>
            <a:spLocks noGrp="1"/>
          </p:cNvSpPr>
          <p:nvPr>
            <p:ph type="dt" sz="half" idx="10"/>
          </p:nvPr>
        </p:nvSpPr>
        <p:spPr/>
        <p:txBody>
          <a:bodyPr/>
          <a:lstStyle>
            <a:lvl1pPr>
              <a:defRPr/>
            </a:lvl1pPr>
          </a:lstStyle>
          <a:p>
            <a:fld id="{1D5BB0C6-8FC1-47C0-B737-D54E21B5B868}" type="datetimeFigureOut">
              <a:rPr lang="en-US" smtClean="0"/>
              <a:pPr/>
              <a:t>5/13/26</a:t>
            </a:fld>
            <a:endParaRPr lang="en-US"/>
          </a:p>
        </p:txBody>
      </p:sp>
      <p:sp>
        <p:nvSpPr>
          <p:cNvPr id="11" name="Footer Placeholder 4"/>
          <p:cNvSpPr>
            <a:spLocks noGrp="1"/>
          </p:cNvSpPr>
          <p:nvPr>
            <p:ph type="ftr" sz="quarter" idx="11"/>
          </p:nvPr>
        </p:nvSpPr>
        <p:spPr/>
        <p:txBody>
          <a:bodyPr/>
          <a:lstStyle>
            <a:lvl1pPr>
              <a:defRPr/>
            </a:lvl1pPr>
          </a:lstStyle>
          <a:p>
            <a:endParaRPr lang="en-US"/>
          </a:p>
        </p:txBody>
      </p:sp>
      <p:sp>
        <p:nvSpPr>
          <p:cNvPr id="12"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a:p>
        </p:txBody>
      </p:sp>
    </p:spTree>
  </p:cSld>
  <p:clrMapOvr>
    <a:masterClrMapping/>
  </p:clrMapOvr>
  <p:transition advTm="4000">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5BB0C6-8FC1-47C0-B737-D54E21B5B868}" type="datetimeFigureOut">
              <a:rPr lang="en-US" smtClean="0"/>
              <a:pPr/>
              <a:t>5/13/26</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8887D6-2A35-42AC-99C1-5E14D32EE4CF}" type="slidenum">
              <a:rPr lang="en-US" smtClean="0"/>
              <a:pPr/>
              <a:t>‹#›</a:t>
            </a:fld>
            <a:endParaRPr lang="en-US"/>
          </a:p>
        </p:txBody>
      </p:sp>
    </p:spTree>
  </p:cSld>
  <p:clrMapOvr>
    <a:masterClrMapping/>
  </p:clrMapOvr>
  <p:transition advTm="4000">
    <p:cut/>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b="1">
                <a:solidFill>
                  <a:srgbClr val="0070C0"/>
                </a:solidFill>
                <a:latin typeface="Times New Roman" pitchFamily="18" charset="0"/>
                <a:cs typeface="Times New Roman" pitchFamily="18" charset="0"/>
              </a:defRPr>
            </a:lvl1pPr>
          </a:lstStyle>
          <a:p>
            <a:fld id="{1D5BB0C6-8FC1-47C0-B737-D54E21B5B868}" type="datetimeFigureOut">
              <a:rPr lang="en-US" smtClean="0"/>
              <a:pPr/>
              <a:t>5/13/26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b="1">
                <a:solidFill>
                  <a:srgbClr val="0070C0"/>
                </a:solidFill>
                <a:latin typeface="Times New Roman" pitchFamily="18" charset="0"/>
                <a:ea typeface="ＭＳ Ｐゴシック" charset="-128"/>
                <a:cs typeface="Times New Roman" pitchFamily="18"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b="1">
                <a:solidFill>
                  <a:srgbClr val="0070C0"/>
                </a:solidFill>
                <a:latin typeface="Times New Roman" pitchFamily="18" charset="0"/>
                <a:cs typeface="Times New Roman" pitchFamily="18" charset="0"/>
              </a:defRPr>
            </a:lvl1pPr>
          </a:lstStyle>
          <a:p>
            <a:fld id="{0F8887D6-2A35-42AC-99C1-5E14D32EE4CF}" type="slidenum">
              <a:rPr lang="en-US" smtClean="0"/>
              <a:pPr/>
              <a:t>‹#›</a:t>
            </a:fld>
            <a:endParaRPr lang="en-US"/>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headEnd/>
            <a:tailEnd/>
          </a:ln>
          <a:effectLst/>
          <a:scene3d>
            <a:camera prst="orthographicFront"/>
            <a:lightRig rig="threePt" dir="t"/>
          </a:scene3d>
          <a:sp3d>
            <a:bevelB/>
          </a:sp3d>
        </p:spPr>
        <p:txBody>
          <a:bodyPr wrap="none" anchor="ctr"/>
          <a:lstStyle/>
          <a:p>
            <a:pPr>
              <a:defRPr/>
            </a:pPr>
            <a:endParaRPr lang="en-US">
              <a:latin typeface="Calibri" charset="0"/>
              <a:ea typeface="ＭＳ Ｐゴシック" charset="-128"/>
            </a:endParaRPr>
          </a:p>
        </p:txBody>
      </p:sp>
      <p:pic>
        <p:nvPicPr>
          <p:cNvPr id="1035"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2" name="Group 7"/>
          <p:cNvGrpSpPr>
            <a:grpSpLocks/>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1040" name="Picture 9" descr="LOGO.gif"/>
            <p:cNvPicPr>
              <a:picLocks noChangeAspect="1"/>
            </p:cNvPicPr>
            <p:nvPr/>
          </p:nvPicPr>
          <p:blipFill>
            <a:blip r:embed="rId5"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1038" name="Picture 15" descr="logo.jpg"/>
          <p:cNvPicPr>
            <a:picLocks noChangeAspect="1"/>
          </p:cNvPicPr>
          <p:nvPr/>
        </p:nvPicPr>
        <p:blipFill>
          <a:blip r:embed="rId6" cstate="print"/>
          <a:srcRect/>
          <a:stretch>
            <a:fillRect/>
          </a:stretch>
        </p:blipFill>
        <p:spPr bwMode="auto">
          <a:xfrm>
            <a:off x="6553200" y="228600"/>
            <a:ext cx="1920875" cy="6096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Lst>
  <p:transition advTm="4000">
    <p:cut/>
  </p:transition>
  <p:txStyles>
    <p:titleStyle>
      <a:lvl1pPr algn="ctr" rtl="0" eaLnBrk="1" fontAlgn="base" hangingPunct="1">
        <a:spcBef>
          <a:spcPct val="0"/>
        </a:spcBef>
        <a:spcAft>
          <a:spcPct val="0"/>
        </a:spcAft>
        <a:defRPr sz="3000" kern="1200">
          <a:solidFill>
            <a:schemeClr val="tx1"/>
          </a:solidFill>
          <a:latin typeface="+mj-lt"/>
          <a:ea typeface="MS PGothic"/>
          <a:cs typeface="MS PGothic"/>
        </a:defRPr>
      </a:lvl1pPr>
      <a:lvl2pPr algn="ctr" rtl="0" eaLnBrk="1" fontAlgn="base" hangingPunct="1">
        <a:spcBef>
          <a:spcPct val="0"/>
        </a:spcBef>
        <a:spcAft>
          <a:spcPct val="0"/>
        </a:spcAft>
        <a:defRPr sz="3000">
          <a:solidFill>
            <a:schemeClr val="tx1"/>
          </a:solidFill>
          <a:latin typeface="Calibri" charset="0"/>
          <a:ea typeface="MS PGothic"/>
          <a:cs typeface="MS PGothic"/>
        </a:defRPr>
      </a:lvl2pPr>
      <a:lvl3pPr algn="ctr" rtl="0" eaLnBrk="1" fontAlgn="base" hangingPunct="1">
        <a:spcBef>
          <a:spcPct val="0"/>
        </a:spcBef>
        <a:spcAft>
          <a:spcPct val="0"/>
        </a:spcAft>
        <a:defRPr sz="3000">
          <a:solidFill>
            <a:schemeClr val="tx1"/>
          </a:solidFill>
          <a:latin typeface="Calibri" charset="0"/>
          <a:ea typeface="MS PGothic"/>
          <a:cs typeface="MS PGothic"/>
        </a:defRPr>
      </a:lvl3pPr>
      <a:lvl4pPr algn="ctr" rtl="0" eaLnBrk="1" fontAlgn="base" hangingPunct="1">
        <a:spcBef>
          <a:spcPct val="0"/>
        </a:spcBef>
        <a:spcAft>
          <a:spcPct val="0"/>
        </a:spcAft>
        <a:defRPr sz="3000">
          <a:solidFill>
            <a:schemeClr val="tx1"/>
          </a:solidFill>
          <a:latin typeface="Calibri" charset="0"/>
          <a:ea typeface="MS PGothic"/>
          <a:cs typeface="MS PGothic"/>
        </a:defRPr>
      </a:lvl4pPr>
      <a:lvl5pPr algn="ctr" rtl="0" eaLnBrk="1" fontAlgn="base" hangingPunct="1">
        <a:spcBef>
          <a:spcPct val="0"/>
        </a:spcBef>
        <a:spcAft>
          <a:spcPct val="0"/>
        </a:spcAft>
        <a:defRPr sz="3000">
          <a:solidFill>
            <a:schemeClr val="tx1"/>
          </a:solidFill>
          <a:latin typeface="Calibri" charset="0"/>
          <a:ea typeface="MS PGothic"/>
          <a:cs typeface="MS PGothic"/>
        </a:defRPr>
      </a:lvl5pPr>
      <a:lvl6pPr marL="457200" algn="ctr" rtl="0" eaLnBrk="1" fontAlgn="base" hangingPunct="1">
        <a:spcBef>
          <a:spcPct val="0"/>
        </a:spcBef>
        <a:spcAft>
          <a:spcPct val="0"/>
        </a:spcAft>
        <a:defRPr sz="3000">
          <a:solidFill>
            <a:schemeClr val="tx1"/>
          </a:solidFill>
          <a:latin typeface="Calibri" charset="0"/>
          <a:ea typeface="ＭＳ Ｐゴシック" charset="-128"/>
        </a:defRPr>
      </a:lvl6pPr>
      <a:lvl7pPr marL="914400" algn="ctr" rtl="0" eaLnBrk="1" fontAlgn="base" hangingPunct="1">
        <a:spcBef>
          <a:spcPct val="0"/>
        </a:spcBef>
        <a:spcAft>
          <a:spcPct val="0"/>
        </a:spcAft>
        <a:defRPr sz="3000">
          <a:solidFill>
            <a:schemeClr val="tx1"/>
          </a:solidFill>
          <a:latin typeface="Calibri" charset="0"/>
          <a:ea typeface="ＭＳ Ｐゴシック" charset="-128"/>
        </a:defRPr>
      </a:lvl7pPr>
      <a:lvl8pPr marL="1371600" algn="ctr" rtl="0" eaLnBrk="1" fontAlgn="base" hangingPunct="1">
        <a:spcBef>
          <a:spcPct val="0"/>
        </a:spcBef>
        <a:spcAft>
          <a:spcPct val="0"/>
        </a:spcAft>
        <a:defRPr sz="3000">
          <a:solidFill>
            <a:schemeClr val="tx1"/>
          </a:solidFill>
          <a:latin typeface="Calibri" charset="0"/>
          <a:ea typeface="ＭＳ Ｐゴシック" charset="-128"/>
        </a:defRPr>
      </a:lvl8pPr>
      <a:lvl9pPr marL="1828800" algn="ctr" rtl="0" eaLnBrk="1" fontAlgn="base" hangingPunct="1">
        <a:spcBef>
          <a:spcPct val="0"/>
        </a:spcBef>
        <a:spcAft>
          <a:spcPct val="0"/>
        </a:spcAft>
        <a:defRPr sz="3000">
          <a:solidFill>
            <a:schemeClr val="tx1"/>
          </a:solidFill>
          <a:latin typeface="Calibri" charset="0"/>
          <a:ea typeface="ＭＳ Ｐゴシック" charset="-128"/>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4784"/>
            <a:ext cx="9144000" cy="5539978"/>
          </a:xfrm>
          <a:prstGeom prst="rect">
            <a:avLst/>
          </a:prstGeom>
          <a:noFill/>
        </p:spPr>
        <p:txBody>
          <a:bodyPr wrap="square" rtlCol="0">
            <a:spAutoFit/>
          </a:bodyPr>
          <a:lstStyle/>
          <a:p>
            <a:pPr algn="ctr">
              <a:defRPr sz="3400" b="1">
                <a:latin typeface="Times New Roman"/>
              </a:defRPr>
            </a:pPr>
            <a:r>
              <a:rPr lang="en-US" sz="3600" dirty="0"/>
              <a:t>Predicting Student Academic Performance Using Machine Learning Techniques</a:t>
            </a:r>
          </a:p>
          <a:p>
            <a:pPr algn="ctr"/>
            <a:endParaRPr lang="en-US" sz="2000" b="1" dirty="0">
              <a:latin typeface="Times New Roman" panose="02020603050405020304" pitchFamily="18" charset="0"/>
              <a:cs typeface="Times New Roman" panose="02020603050405020304" pitchFamily="18" charset="0"/>
            </a:endParaRPr>
          </a:p>
          <a:p>
            <a:pPr algn="ctr">
              <a:defRPr sz="2200">
                <a:latin typeface="Times New Roman"/>
              </a:defRPr>
            </a:pPr>
            <a:r>
              <a:rPr lang="en-US" sz="2000" b="1" dirty="0"/>
              <a:t>Nitin Choudhary - 2210991998</a:t>
            </a:r>
          </a:p>
          <a:p>
            <a:pPr algn="ctr">
              <a:defRPr sz="2200">
                <a:latin typeface="Times New Roman"/>
              </a:defRPr>
            </a:pPr>
            <a:r>
              <a:rPr lang="en-US" sz="2000" b="1" dirty="0"/>
              <a:t>Nikshay Katoch - 2210991984</a:t>
            </a:r>
          </a:p>
          <a:p>
            <a:pPr algn="ctr">
              <a:defRPr sz="2200">
                <a:latin typeface="Times New Roman"/>
              </a:defRPr>
            </a:pPr>
            <a:r>
              <a:rPr lang="en-US" sz="2000" b="1" dirty="0"/>
              <a:t>Kavya Mittal - 2210991778</a:t>
            </a:r>
          </a:p>
          <a:p>
            <a:pPr algn="ctr"/>
            <a:endParaRPr lang="en-US" sz="20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Subject: IOHE(Industry Oriented Hands-on Experience)</a:t>
            </a:r>
          </a:p>
          <a:p>
            <a:pPr algn="ctr"/>
            <a:endParaRPr lang="en-US" sz="20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Supervised by : </a:t>
            </a:r>
            <a:r>
              <a:rPr lang="en-US" sz="2000" b="1" dirty="0"/>
              <a:t>Preet Saini</a:t>
            </a:r>
          </a:p>
          <a:p>
            <a:pPr algn="ctr"/>
            <a:endParaRPr lang="en-US" sz="2000" b="1" dirty="0">
              <a:latin typeface="Times New Roman" panose="02020603050405020304" pitchFamily="18" charset="0"/>
              <a:cs typeface="Times New Roman" panose="02020603050405020304" pitchFamily="18" charset="0"/>
            </a:endParaRPr>
          </a:p>
          <a:p>
            <a:endParaRPr lang="en-US" sz="2000" b="1" dirty="0">
              <a:solidFill>
                <a:srgbClr val="FF0000"/>
              </a:solidFill>
              <a:latin typeface="Times New Roman" panose="02020603050405020304" pitchFamily="18" charset="0"/>
              <a:cs typeface="Times New Roman" panose="02020603050405020304" pitchFamily="18" charset="0"/>
            </a:endParaRPr>
          </a:p>
          <a:p>
            <a:pPr algn="ctr"/>
            <a:endParaRPr lang="en-US" sz="2000" b="1" dirty="0">
              <a:solidFill>
                <a:srgbClr val="FF0000"/>
              </a:solidFill>
              <a:latin typeface="Times New Roman" panose="02020603050405020304" pitchFamily="18" charset="0"/>
              <a:cs typeface="Times New Roman" panose="02020603050405020304" pitchFamily="18" charset="0"/>
            </a:endParaRPr>
          </a:p>
          <a:p>
            <a:pPr algn="ctr"/>
            <a:endParaRPr lang="en-US" sz="2000" b="1" dirty="0">
              <a:solidFill>
                <a:srgbClr val="FF0000"/>
              </a:solidFill>
              <a:latin typeface="Times New Roman" panose="02020603050405020304" pitchFamily="18" charset="0"/>
              <a:cs typeface="Times New Roman" panose="02020603050405020304" pitchFamily="18" charset="0"/>
            </a:endParaRPr>
          </a:p>
          <a:p>
            <a:pPr algn="ctr"/>
            <a:endParaRPr lang="en-US" sz="2000" b="1" dirty="0">
              <a:solidFill>
                <a:srgbClr val="FF0000"/>
              </a:solidFill>
              <a:latin typeface="Times New Roman" panose="02020603050405020304" pitchFamily="18" charset="0"/>
              <a:cs typeface="Times New Roman" panose="02020603050405020304" pitchFamily="18" charset="0"/>
            </a:endParaRPr>
          </a:p>
          <a:p>
            <a:pPr algn="ct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1187624" y="5661248"/>
            <a:ext cx="6947095" cy="707886"/>
          </a:xfrm>
          <a:prstGeom prst="rect">
            <a:avLst/>
          </a:prstGeom>
          <a:noFill/>
        </p:spPr>
        <p:txBody>
          <a:bodyPr wrap="none" rtlCol="0">
            <a:spAutoFit/>
          </a:bodyPr>
          <a:lstStyle/>
          <a:p>
            <a:r>
              <a:rPr lang="en-US" sz="2000" b="1" dirty="0">
                <a:latin typeface="Times New Roman" pitchFamily="18" charset="0"/>
                <a:cs typeface="Times New Roman" pitchFamily="18" charset="0"/>
              </a:rPr>
              <a:t>Chitkara University Institute of Engineering and Technology, </a:t>
            </a:r>
          </a:p>
          <a:p>
            <a:pPr algn="ctr"/>
            <a:r>
              <a:rPr lang="en-US" sz="2000" b="1" dirty="0">
                <a:latin typeface="Times New Roman" pitchFamily="18" charset="0"/>
                <a:cs typeface="Times New Roman" pitchFamily="18" charset="0"/>
              </a:rPr>
              <a:t>Chitkara University, Punjab</a:t>
            </a:r>
          </a:p>
        </p:txBody>
      </p:sp>
    </p:spTree>
  </p:cSld>
  <p:clrMapOvr>
    <a:masterClrMapping/>
  </p:clrMapOvr>
  <p:transition advTm="4000">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0648"/>
            <a:ext cx="5868144"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Presentation Outline</a:t>
            </a:r>
          </a:p>
        </p:txBody>
      </p:sp>
      <p:sp>
        <p:nvSpPr>
          <p:cNvPr id="3" name="TextBox 2">
            <a:extLst>
              <a:ext uri="{FF2B5EF4-FFF2-40B4-BE49-F238E27FC236}">
                <a16:creationId xmlns:a16="http://schemas.microsoft.com/office/drawing/2014/main" id="{D8CC8245-EC19-729F-CB92-E19083E20A0B}"/>
              </a:ext>
            </a:extLst>
          </p:cNvPr>
          <p:cNvSpPr txBox="1"/>
          <p:nvPr/>
        </p:nvSpPr>
        <p:spPr>
          <a:xfrm>
            <a:off x="104800" y="764704"/>
            <a:ext cx="7782272" cy="4462760"/>
          </a:xfrm>
          <a:prstGeom prst="rect">
            <a:avLst/>
          </a:prstGeom>
          <a:noFill/>
        </p:spPr>
        <p:txBody>
          <a:bodyPr wrap="square" rtlCol="0">
            <a:spAutoFit/>
          </a:bodyPr>
          <a:lstStyle/>
          <a:p>
            <a:pPr marL="342900" indent="-342900">
              <a:buFont typeface="Wingdings" panose="05000000000000000000" pitchFamily="2" charset="2"/>
              <a:buChar char="q"/>
            </a:pPr>
            <a:r>
              <a:rPr lang="en-US" sz="2400" dirty="0">
                <a:latin typeface="Times New Roman" pitchFamily="18" charset="0"/>
                <a:cs typeface="Times New Roman" pitchFamily="18" charset="0"/>
              </a:rPr>
              <a:t> </a:t>
            </a:r>
            <a:r>
              <a:rPr lang="en-US" sz="2000" dirty="0">
                <a:latin typeface="Times New Roman" pitchFamily="18" charset="0"/>
                <a:cs typeface="Times New Roman" pitchFamily="18" charset="0"/>
              </a:rPr>
              <a:t>Introduction</a:t>
            </a:r>
          </a:p>
          <a:p>
            <a:pPr marL="342900" indent="-342900">
              <a:buFont typeface="Wingdings" panose="05000000000000000000" pitchFamily="2" charset="2"/>
              <a:buChar char="q"/>
            </a:pPr>
            <a:r>
              <a:rPr lang="en-US" sz="2000" dirty="0">
                <a:latin typeface="Times New Roman" pitchFamily="18" charset="0"/>
                <a:cs typeface="Times New Roman" pitchFamily="18" charset="0"/>
              </a:rPr>
              <a:t>Problem Statement</a:t>
            </a:r>
          </a:p>
          <a:p>
            <a:pPr marL="342900" indent="-342900">
              <a:buFont typeface="Wingdings" panose="05000000000000000000" pitchFamily="2" charset="2"/>
              <a:buChar char="q"/>
            </a:pPr>
            <a:r>
              <a:rPr lang="en-US" sz="2000" dirty="0">
                <a:latin typeface="Times New Roman" pitchFamily="18" charset="0"/>
                <a:cs typeface="Times New Roman" pitchFamily="18" charset="0"/>
              </a:rPr>
              <a:t>Objective</a:t>
            </a:r>
          </a:p>
          <a:p>
            <a:pPr marL="342900" indent="-342900">
              <a:buFont typeface="Wingdings" panose="05000000000000000000" pitchFamily="2" charset="2"/>
              <a:buChar char="q"/>
            </a:pPr>
            <a:r>
              <a:rPr lang="en-US" sz="2000" dirty="0">
                <a:latin typeface="Times New Roman" pitchFamily="18" charset="0"/>
                <a:cs typeface="Times New Roman" pitchFamily="18" charset="0"/>
              </a:rPr>
              <a:t>Methodology</a:t>
            </a:r>
          </a:p>
          <a:p>
            <a:pPr marL="342900" indent="-342900">
              <a:buFont typeface="Wingdings" panose="05000000000000000000" pitchFamily="2" charset="2"/>
              <a:buChar char="q"/>
            </a:pPr>
            <a:r>
              <a:rPr lang="en-US" sz="2000" dirty="0">
                <a:latin typeface="Times New Roman" pitchFamily="18" charset="0"/>
                <a:cs typeface="Times New Roman" pitchFamily="18" charset="0"/>
              </a:rPr>
              <a:t>System Architecture</a:t>
            </a:r>
          </a:p>
          <a:p>
            <a:pPr marL="342900" indent="-342900">
              <a:buFont typeface="Wingdings" panose="05000000000000000000" pitchFamily="2" charset="2"/>
              <a:buChar char="q"/>
            </a:pPr>
            <a:r>
              <a:rPr lang="en-US" sz="2000" dirty="0">
                <a:latin typeface="Times New Roman" pitchFamily="18" charset="0"/>
                <a:cs typeface="Times New Roman" pitchFamily="18" charset="0"/>
              </a:rPr>
              <a:t>Key Features </a:t>
            </a:r>
          </a:p>
          <a:p>
            <a:pPr marL="342900" indent="-342900">
              <a:buFont typeface="Wingdings" panose="05000000000000000000" pitchFamily="2" charset="2"/>
              <a:buChar char="q"/>
            </a:pPr>
            <a:r>
              <a:rPr lang="en-US" sz="2000" dirty="0">
                <a:latin typeface="Times New Roman" pitchFamily="18" charset="0"/>
                <a:cs typeface="Times New Roman" pitchFamily="18" charset="0"/>
              </a:rPr>
              <a:t>Technology Stack</a:t>
            </a:r>
          </a:p>
          <a:p>
            <a:pPr marL="342900" indent="-342900">
              <a:buFont typeface="Wingdings" panose="05000000000000000000" pitchFamily="2" charset="2"/>
              <a:buChar char="q"/>
            </a:pPr>
            <a:r>
              <a:rPr lang="en-US" sz="2000" dirty="0">
                <a:latin typeface="Times New Roman" pitchFamily="18" charset="0"/>
                <a:cs typeface="Times New Roman" pitchFamily="18" charset="0"/>
              </a:rPr>
              <a:t>Results and Output</a:t>
            </a:r>
          </a:p>
          <a:p>
            <a:pPr marL="342900" indent="-342900">
              <a:buFont typeface="Wingdings" panose="05000000000000000000" pitchFamily="2" charset="2"/>
              <a:buChar char="q"/>
            </a:pPr>
            <a:r>
              <a:rPr lang="en-US" sz="2000" dirty="0">
                <a:latin typeface="Times New Roman" pitchFamily="18" charset="0"/>
                <a:cs typeface="Times New Roman" pitchFamily="18" charset="0"/>
              </a:rPr>
              <a:t>Key Findings</a:t>
            </a:r>
          </a:p>
          <a:p>
            <a:pPr marL="342900" indent="-342900">
              <a:buFont typeface="Wingdings" panose="05000000000000000000" pitchFamily="2" charset="2"/>
              <a:buChar char="q"/>
            </a:pPr>
            <a:r>
              <a:rPr lang="en-US" sz="2000" dirty="0">
                <a:latin typeface="Times New Roman" pitchFamily="18" charset="0"/>
                <a:cs typeface="Times New Roman" pitchFamily="18" charset="0"/>
              </a:rPr>
              <a:t>Conclusion</a:t>
            </a:r>
          </a:p>
          <a:p>
            <a:pPr marL="342900" indent="-342900">
              <a:buFont typeface="Wingdings" panose="05000000000000000000" pitchFamily="2" charset="2"/>
              <a:buChar char="q"/>
            </a:pPr>
            <a:r>
              <a:rPr lang="en-US" sz="2000" dirty="0">
                <a:latin typeface="Times New Roman" pitchFamily="18" charset="0"/>
                <a:cs typeface="Times New Roman" pitchFamily="18" charset="0"/>
              </a:rPr>
              <a:t>Challenges Faced</a:t>
            </a:r>
          </a:p>
          <a:p>
            <a:pPr marL="342900" indent="-342900">
              <a:buFont typeface="Wingdings" panose="05000000000000000000" pitchFamily="2" charset="2"/>
              <a:buChar char="q"/>
            </a:pPr>
            <a:r>
              <a:rPr lang="en-US" sz="2000" dirty="0">
                <a:latin typeface="Times New Roman" pitchFamily="18" charset="0"/>
                <a:cs typeface="Times New Roman" pitchFamily="18" charset="0"/>
              </a:rPr>
              <a:t>Future Scope</a:t>
            </a:r>
          </a:p>
          <a:p>
            <a:pPr marL="342900" indent="-342900">
              <a:buFont typeface="Wingdings" panose="05000000000000000000" pitchFamily="2" charset="2"/>
              <a:buChar char="q"/>
            </a:pPr>
            <a:r>
              <a:rPr lang="en-US" sz="2000" dirty="0">
                <a:latin typeface="Times New Roman" pitchFamily="18" charset="0"/>
                <a:cs typeface="Times New Roman" pitchFamily="18" charset="0"/>
              </a:rPr>
              <a:t>Machine Learning Code Used</a:t>
            </a:r>
          </a:p>
          <a:p>
            <a:pPr marL="342900" indent="-342900">
              <a:buFont typeface="Wingdings" panose="05000000000000000000" pitchFamily="2" charset="2"/>
              <a:buChar char="q"/>
            </a:pPr>
            <a:endParaRPr lang="en-US" sz="2000" dirty="0">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B73EF380-AF0B-4E12-3005-8C52490D41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5936" y="980728"/>
            <a:ext cx="4973960" cy="5040560"/>
          </a:xfrm>
          <a:prstGeom prst="rect">
            <a:avLst/>
          </a:prstGeom>
        </p:spPr>
      </p:pic>
    </p:spTree>
  </p:cSld>
  <p:clrMapOvr>
    <a:masterClrMapping/>
  </p:clrMapOvr>
  <p:transition advTm="4000">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35B8E-296E-809D-E192-C546B1574908}"/>
              </a:ext>
            </a:extLst>
          </p:cNvPr>
          <p:cNvSpPr>
            <a:spLocks noGrp="1"/>
          </p:cNvSpPr>
          <p:nvPr>
            <p:ph type="ctrTitle"/>
          </p:nvPr>
        </p:nvSpPr>
        <p:spPr/>
        <p:txBody>
          <a:bodyPr/>
          <a:lstStyle/>
          <a:p>
            <a:pPr algn="l"/>
            <a:r>
              <a:rPr lang="en-IN" dirty="0"/>
              <a:t>Introduction</a:t>
            </a:r>
          </a:p>
        </p:txBody>
      </p:sp>
      <p:sp>
        <p:nvSpPr>
          <p:cNvPr id="3" name="Subtitle 2">
            <a:extLst>
              <a:ext uri="{FF2B5EF4-FFF2-40B4-BE49-F238E27FC236}">
                <a16:creationId xmlns:a16="http://schemas.microsoft.com/office/drawing/2014/main" id="{4782A0CF-7F55-A2D3-506A-0F9A054869EF}"/>
              </a:ext>
            </a:extLst>
          </p:cNvPr>
          <p:cNvSpPr>
            <a:spLocks noGrp="1"/>
          </p:cNvSpPr>
          <p:nvPr>
            <p:ph type="subTitle" idx="1"/>
          </p:nvPr>
        </p:nvSpPr>
        <p:spPr>
          <a:xfrm>
            <a:off x="395536" y="1196752"/>
            <a:ext cx="8153400" cy="4724400"/>
          </a:xfrm>
        </p:spPr>
        <p:txBody>
          <a:bodyPr/>
          <a:lstStyle/>
          <a:p>
            <a:pPr marL="342900" indent="-342900" algn="l">
              <a:buFont typeface="Wingdings" panose="05000000000000000000" pitchFamily="2" charset="2"/>
              <a:buChar char="q"/>
            </a:pPr>
            <a:r>
              <a:rPr lang="en-US" sz="1800" dirty="0">
                <a:solidFill>
                  <a:schemeClr val="tx1"/>
                </a:solidFill>
                <a:latin typeface="Times New Roman" panose="02020603050405020304" pitchFamily="18" charset="0"/>
                <a:cs typeface="Times New Roman" panose="02020603050405020304" pitchFamily="18" charset="0"/>
              </a:rPr>
              <a:t>This project focuses on predicting student academic performance using machine learning techniques. Traditional methods mainly depend on final examination results and often fail to identify struggling students at an early stage. The proposed system uses educational data such as attendance, study time, previous grades, and academic </a:t>
            </a:r>
            <a:r>
              <a:rPr lang="en-US" sz="1800" dirty="0" err="1">
                <a:solidFill>
                  <a:schemeClr val="tx1"/>
                </a:solidFill>
                <a:latin typeface="Times New Roman" panose="02020603050405020304" pitchFamily="18" charset="0"/>
                <a:cs typeface="Times New Roman" panose="02020603050405020304" pitchFamily="18" charset="0"/>
              </a:rPr>
              <a:t>behaviour</a:t>
            </a:r>
            <a:r>
              <a:rPr lang="en-US" sz="1800" dirty="0">
                <a:solidFill>
                  <a:schemeClr val="tx1"/>
                </a:solidFill>
                <a:latin typeface="Times New Roman" panose="02020603050405020304" pitchFamily="18" charset="0"/>
                <a:cs typeface="Times New Roman" panose="02020603050405020304" pitchFamily="18" charset="0"/>
              </a:rPr>
              <a:t> to predict whether a student may perform well or require additional support.</a:t>
            </a:r>
          </a:p>
          <a:p>
            <a:pPr marL="342900" indent="-342900" algn="l">
              <a:buFont typeface="Wingdings" panose="05000000000000000000" pitchFamily="2" charset="2"/>
              <a:buChar char="q"/>
            </a:pPr>
            <a:endParaRPr lang="en-US" sz="1800" dirty="0">
              <a:solidFill>
                <a:schemeClr val="tx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q"/>
            </a:pPr>
            <a:endParaRPr lang="en-US" sz="1800" dirty="0">
              <a:solidFill>
                <a:schemeClr val="tx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q"/>
            </a:pPr>
            <a:r>
              <a:rPr lang="en-US" sz="1800" dirty="0">
                <a:solidFill>
                  <a:schemeClr val="tx1"/>
                </a:solidFill>
                <a:latin typeface="Times New Roman" panose="02020603050405020304" pitchFamily="18" charset="0"/>
                <a:cs typeface="Times New Roman" panose="02020603050405020304" pitchFamily="18" charset="0"/>
              </a:rPr>
              <a:t>The project uses machine learning algorithms including Logistic Regression, K-Nearest Neighbors (KNN), and Support Vector Machine (SVM). The dataset is taken from the UCI Machine Learning Repository and preprocessing techniques are applied before training the models. The main objective is to support educational institutions in making data-driven decisions and improving student outcomes.</a:t>
            </a:r>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6518676"/>
      </p:ext>
    </p:extLst>
  </p:cSld>
  <p:clrMapOvr>
    <a:masterClrMapping/>
  </p:clrMapOvr>
  <p:transition advTm="4000">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Problem</a:t>
            </a:r>
            <a:r>
              <a:rPr lang="en-US" sz="3200" dirty="0">
                <a:latin typeface="Times New Roman" pitchFamily="18" charset="0"/>
                <a:cs typeface="Times New Roman" pitchFamily="18" charset="0"/>
              </a:rPr>
              <a:t> </a:t>
            </a:r>
            <a:r>
              <a:rPr lang="en-US" sz="3200" b="1" dirty="0">
                <a:latin typeface="Times New Roman" pitchFamily="18" charset="0"/>
                <a:cs typeface="Times New Roman" pitchFamily="18" charset="0"/>
              </a:rPr>
              <a:t>Statement</a:t>
            </a:r>
          </a:p>
        </p:txBody>
      </p:sp>
      <p:sp>
        <p:nvSpPr>
          <p:cNvPr id="6" name="Rectangle 5">
            <a:extLst>
              <a:ext uri="{FF2B5EF4-FFF2-40B4-BE49-F238E27FC236}">
                <a16:creationId xmlns:a16="http://schemas.microsoft.com/office/drawing/2014/main" id="{BE384ED1-6231-726D-BBB8-98CA8FB2F009}"/>
              </a:ext>
            </a:extLst>
          </p:cNvPr>
          <p:cNvSpPr/>
          <p:nvPr/>
        </p:nvSpPr>
        <p:spPr>
          <a:xfrm>
            <a:off x="251520" y="1124744"/>
            <a:ext cx="8640960" cy="3416320"/>
          </a:xfrm>
          <a:prstGeom prst="rect">
            <a:avLst/>
          </a:prstGeom>
        </p:spPr>
        <p:txBody>
          <a:bodyPr wrap="square">
            <a:spAutoFit/>
          </a:bodyPr>
          <a:lstStyle/>
          <a:p>
            <a:pPr marL="34290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Educational institutions generate large amounts of student-related data, but most traditional systems only focus on final grades. These systems are unable to identify students who are at academic risk before their performance decreases significantly. Because of this, teachers often cannot provide timely support or intervention.</a:t>
            </a:r>
          </a:p>
          <a:p>
            <a:pPr marL="342900" indent="-34290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Student performance depends on many factors such as attendance, study habits, previous academic records, and social background. Manual analysis of such data is difficult and time-consuming. Therefore, there is a need for an intelligent system that can analyze student information automatically and predict performance accurately using machine learning techniques.</a:t>
            </a:r>
          </a:p>
        </p:txBody>
      </p:sp>
    </p:spTree>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659D4-8E8C-051D-5FA7-3F1A3EE5ED69}"/>
              </a:ext>
            </a:extLst>
          </p:cNvPr>
          <p:cNvSpPr>
            <a:spLocks noGrp="1"/>
          </p:cNvSpPr>
          <p:nvPr>
            <p:ph type="ctrTitle"/>
          </p:nvPr>
        </p:nvSpPr>
        <p:spPr/>
        <p:txBody>
          <a:bodyPr/>
          <a:lstStyle/>
          <a:p>
            <a:pPr algn="l"/>
            <a:r>
              <a:rPr lang="en-US" dirty="0"/>
              <a:t>Objective</a:t>
            </a:r>
          </a:p>
        </p:txBody>
      </p:sp>
      <p:sp>
        <p:nvSpPr>
          <p:cNvPr id="3" name="Subtitle 2">
            <a:extLst>
              <a:ext uri="{FF2B5EF4-FFF2-40B4-BE49-F238E27FC236}">
                <a16:creationId xmlns:a16="http://schemas.microsoft.com/office/drawing/2014/main" id="{1E75EA1B-3640-5613-1E52-FFABBF8B2359}"/>
              </a:ext>
            </a:extLst>
          </p:cNvPr>
          <p:cNvSpPr>
            <a:spLocks noGrp="1"/>
          </p:cNvSpPr>
          <p:nvPr>
            <p:ph type="subTitle" idx="1"/>
          </p:nvPr>
        </p:nvSpPr>
        <p:spPr>
          <a:xfrm>
            <a:off x="107504" y="1338064"/>
            <a:ext cx="8579296" cy="4755232"/>
          </a:xfrm>
        </p:spPr>
        <p:txBody>
          <a:bodyPr/>
          <a:lstStyle/>
          <a:p>
            <a:pPr marL="457200" indent="-457200" algn="l">
              <a:buFont typeface="Wingdings" panose="05000000000000000000" pitchFamily="2" charset="2"/>
              <a:buChar char="q"/>
            </a:pPr>
            <a:r>
              <a:rPr lang="en-US" sz="1800" dirty="0">
                <a:solidFill>
                  <a:schemeClr val="tx1"/>
                </a:solidFill>
                <a:latin typeface="Times New Roman" panose="02020603050405020304" pitchFamily="18" charset="0"/>
                <a:cs typeface="Times New Roman" panose="02020603050405020304" pitchFamily="18" charset="0"/>
              </a:rPr>
              <a:t>The main objective of this project is to design and develop a machine learning based system for predicting student academic performance. The system aims to analyze educational data and identify patterns that affect student success.</a:t>
            </a:r>
          </a:p>
          <a:p>
            <a:pPr marL="457200" indent="-457200" algn="l">
              <a:buFont typeface="Wingdings" panose="05000000000000000000" pitchFamily="2" charset="2"/>
              <a:buChar char="q"/>
            </a:pPr>
            <a:endParaRPr lang="en-US" sz="1800" dirty="0">
              <a:solidFill>
                <a:schemeClr val="tx1"/>
              </a:solidFill>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q"/>
            </a:pPr>
            <a:endParaRPr lang="en-US" sz="1800" dirty="0">
              <a:solidFill>
                <a:schemeClr val="tx1"/>
              </a:solidFill>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q"/>
            </a:pPr>
            <a:r>
              <a:rPr lang="en-US" sz="1800" dirty="0">
                <a:solidFill>
                  <a:schemeClr val="tx1"/>
                </a:solidFill>
                <a:latin typeface="Times New Roman" panose="02020603050405020304" pitchFamily="18" charset="0"/>
                <a:cs typeface="Times New Roman" panose="02020603050405020304" pitchFamily="18" charset="0"/>
              </a:rPr>
              <a:t>The project compares three classification algorithms: Logistic Regression, KNN, and SVM. It also focuses on preprocessing the dataset, selecting important features, evaluating model accuracy, and helping educational institutions identify students who may require academic support at an early stage.</a:t>
            </a: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1024553"/>
      </p:ext>
    </p:extLst>
  </p:cSld>
  <p:clrMapOvr>
    <a:masterClrMapping/>
  </p:clrMapOvr>
  <p:transition advTm="4000">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4B017-32D3-D4A8-3BB6-64B0E408388E}"/>
              </a:ext>
            </a:extLst>
          </p:cNvPr>
          <p:cNvSpPr>
            <a:spLocks noGrp="1"/>
          </p:cNvSpPr>
          <p:nvPr>
            <p:ph type="ctrTitle"/>
          </p:nvPr>
        </p:nvSpPr>
        <p:spPr/>
        <p:txBody>
          <a:bodyPr/>
          <a:lstStyle/>
          <a:p>
            <a:pPr algn="l"/>
            <a:r>
              <a:rPr lang="en-US" dirty="0"/>
              <a:t>Methodology</a:t>
            </a:r>
          </a:p>
        </p:txBody>
      </p:sp>
      <p:sp>
        <p:nvSpPr>
          <p:cNvPr id="3" name="Subtitle 2">
            <a:extLst>
              <a:ext uri="{FF2B5EF4-FFF2-40B4-BE49-F238E27FC236}">
                <a16:creationId xmlns:a16="http://schemas.microsoft.com/office/drawing/2014/main" id="{83AB3058-000E-8F73-05DE-84838D7057FA}"/>
              </a:ext>
            </a:extLst>
          </p:cNvPr>
          <p:cNvSpPr>
            <a:spLocks noGrp="1"/>
          </p:cNvSpPr>
          <p:nvPr>
            <p:ph type="subTitle" idx="1"/>
          </p:nvPr>
        </p:nvSpPr>
        <p:spPr>
          <a:xfrm>
            <a:off x="0" y="1340768"/>
            <a:ext cx="8686800" cy="4755232"/>
          </a:xfrm>
        </p:spPr>
        <p:txBody>
          <a:bodyPr/>
          <a:lstStyle/>
          <a:p>
            <a:pPr marL="457200" indent="-457200" algn="l">
              <a:buFont typeface="Wingdings" panose="05000000000000000000" pitchFamily="2" charset="2"/>
              <a:buChar char="q"/>
            </a:pPr>
            <a:r>
              <a:rPr lang="en-US" sz="2000" dirty="0">
                <a:solidFill>
                  <a:schemeClr val="tx1"/>
                </a:solidFill>
                <a:latin typeface="Times New Roman" panose="02020603050405020304" pitchFamily="18" charset="0"/>
                <a:cs typeface="Times New Roman" panose="02020603050405020304" pitchFamily="18" charset="0"/>
              </a:rPr>
              <a:t>The proposed system follows a structured machine learning pipeline. Initially, the student dataset is collected from the UCI Machine Learning Repository. The dataset contains information such as attendance, previous grades, family background, study time, and other academic attributes.</a:t>
            </a:r>
            <a:br>
              <a:rPr lang="en-US" sz="2000" dirty="0">
                <a:solidFill>
                  <a:schemeClr val="tx1"/>
                </a:solidFill>
                <a:latin typeface="Times New Roman" panose="02020603050405020304" pitchFamily="18" charset="0"/>
                <a:cs typeface="Times New Roman" panose="02020603050405020304" pitchFamily="18" charset="0"/>
              </a:rPr>
            </a:br>
            <a:br>
              <a:rPr lang="en-US" sz="2000" dirty="0">
                <a:solidFill>
                  <a:schemeClr val="tx1"/>
                </a:solidFill>
                <a:latin typeface="Times New Roman" panose="02020603050405020304" pitchFamily="18" charset="0"/>
                <a:cs typeface="Times New Roman" panose="02020603050405020304" pitchFamily="18" charset="0"/>
              </a:rPr>
            </a:br>
            <a:endParaRPr lang="en-US" sz="2000" dirty="0">
              <a:solidFill>
                <a:schemeClr val="tx1"/>
              </a:solidFill>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q"/>
            </a:pPr>
            <a:r>
              <a:rPr lang="en-US" sz="2000" dirty="0">
                <a:solidFill>
                  <a:schemeClr val="tx1"/>
                </a:solidFill>
                <a:latin typeface="Times New Roman" panose="02020603050405020304" pitchFamily="18" charset="0"/>
                <a:cs typeface="Times New Roman" panose="02020603050405020304" pitchFamily="18" charset="0"/>
              </a:rPr>
              <a:t>Data preprocessing techniques such as handling missing values, converting categorical values into numerical form, feature scaling, and normalization are applied. After preprocessing, the dataset is divided into training and testing sets using an 80:20 ratio. Machine learning models including Logistic Regression, KNN, and SVM are trained and evaluated using metrics such as accuracy, precision, recall, and F1-score.</a:t>
            </a: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3524443"/>
      </p:ext>
    </p:extLst>
  </p:cSld>
  <p:clrMapOvr>
    <a:masterClrMapping/>
  </p:clrMapOvr>
  <p:transition advTm="4000">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8D51A-0924-11B4-18DC-A867555C276B}"/>
              </a:ext>
            </a:extLst>
          </p:cNvPr>
          <p:cNvSpPr>
            <a:spLocks noGrp="1"/>
          </p:cNvSpPr>
          <p:nvPr>
            <p:ph type="ctrTitle"/>
          </p:nvPr>
        </p:nvSpPr>
        <p:spPr/>
        <p:txBody>
          <a:bodyPr/>
          <a:lstStyle/>
          <a:p>
            <a:pPr algn="l"/>
            <a:r>
              <a:rPr lang="en-US" dirty="0"/>
              <a:t>System Architecture</a:t>
            </a:r>
          </a:p>
        </p:txBody>
      </p:sp>
      <p:sp>
        <p:nvSpPr>
          <p:cNvPr id="3" name="Subtitle 2">
            <a:extLst>
              <a:ext uri="{FF2B5EF4-FFF2-40B4-BE49-F238E27FC236}">
                <a16:creationId xmlns:a16="http://schemas.microsoft.com/office/drawing/2014/main" id="{CBD7612F-C9FF-A4EA-57A0-6998963839B2}"/>
              </a:ext>
            </a:extLst>
          </p:cNvPr>
          <p:cNvSpPr>
            <a:spLocks noGrp="1"/>
          </p:cNvSpPr>
          <p:nvPr>
            <p:ph type="subTitle" idx="1"/>
          </p:nvPr>
        </p:nvSpPr>
        <p:spPr>
          <a:xfrm>
            <a:off x="179512" y="980728"/>
            <a:ext cx="8507288" cy="5115272"/>
          </a:xfrm>
        </p:spPr>
        <p:txBody>
          <a:bodyPr/>
          <a:lstStyle/>
          <a:p>
            <a:pPr algn="l">
              <a:defRPr sz="2100">
                <a:solidFill>
                  <a:srgbClr val="000000"/>
                </a:solidFill>
                <a:latin typeface="Times New Roman"/>
              </a:defRPr>
            </a:pPr>
            <a:r>
              <a:rPr lang="en-US" sz="1800" dirty="0"/>
              <a:t>The system architecture begins with dataset collection and preprocessing. Raw student data is first cleaned and transformed into a numerical format suitable for machine learning algorithms.</a:t>
            </a:r>
            <a:br>
              <a:rPr lang="en-US" sz="1800" dirty="0"/>
            </a:br>
            <a:br>
              <a:rPr lang="en-US" sz="1800" dirty="0"/>
            </a:br>
            <a:r>
              <a:rPr lang="en-US" sz="1800" dirty="0"/>
              <a:t>The processed dataset is then passed to different machine learning models including Logistic Regression, KNN, and SVM. Each model learns patterns from the training data and predicts student performance on test data. Finally, the results are evaluated and compared to determine the best performing model for academic prediction.</a:t>
            </a:r>
          </a:p>
        </p:txBody>
      </p:sp>
    </p:spTree>
    <p:extLst>
      <p:ext uri="{BB962C8B-B14F-4D97-AF65-F5344CB8AC3E}">
        <p14:creationId xmlns:p14="http://schemas.microsoft.com/office/powerpoint/2010/main" val="1427398532"/>
      </p:ext>
    </p:extLst>
  </p:cSld>
  <p:clrMapOvr>
    <a:masterClrMapping/>
  </p:clrMapOvr>
  <p:transition advTm="4000">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Key Features &amp; Learnings</a:t>
            </a:r>
          </a:p>
        </p:txBody>
      </p:sp>
      <p:sp>
        <p:nvSpPr>
          <p:cNvPr id="6" name="Rectangle 5">
            <a:extLst>
              <a:ext uri="{FF2B5EF4-FFF2-40B4-BE49-F238E27FC236}">
                <a16:creationId xmlns:a16="http://schemas.microsoft.com/office/drawing/2014/main" id="{BE384ED1-6231-726D-BBB8-98CA8FB2F009}"/>
              </a:ext>
            </a:extLst>
          </p:cNvPr>
          <p:cNvSpPr/>
          <p:nvPr/>
        </p:nvSpPr>
        <p:spPr>
          <a:xfrm>
            <a:off x="227737" y="1084698"/>
            <a:ext cx="8496944" cy="3416320"/>
          </a:xfrm>
          <a:prstGeom prst="rect">
            <a:avLst/>
          </a:prstGeom>
        </p:spPr>
        <p:txBody>
          <a:bodyPr wrap="square">
            <a:spAutoFit/>
          </a:bodyPr>
          <a:lstStyle/>
          <a:p>
            <a:pPr marL="342900" lvl="0" indent="-342900" eaLnBrk="0" fontAlgn="base" hangingPunct="0">
              <a:spcBef>
                <a:spcPct val="0"/>
              </a:spcBef>
              <a:spcAft>
                <a:spcPct val="0"/>
              </a:spcAf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Student performance prediction using machine learning algorithms.</a:t>
            </a:r>
            <a:br>
              <a:rPr lang="en-US" dirty="0">
                <a:latin typeface="Times New Roman" panose="02020603050405020304" pitchFamily="18" charset="0"/>
                <a:cs typeface="Times New Roman" panose="02020603050405020304" pitchFamily="18" charset="0"/>
              </a:rPr>
            </a:br>
            <a:endParaRPr kumimoji="0" lang="en-GB"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Comparison between Logistic Regression, KNN, and SVM.</a:t>
            </a:r>
            <a:br>
              <a:rPr lang="en-US" dirty="0">
                <a:latin typeface="Times New Roman" panose="02020603050405020304" pitchFamily="18" charset="0"/>
                <a:cs typeface="Times New Roman" panose="02020603050405020304" pitchFamily="18" charset="0"/>
              </a:rPr>
            </a:br>
            <a:endParaRPr kumimoji="0" lang="en-GB"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Data preprocessing including normalization and feature scaling.</a:t>
            </a:r>
            <a:br>
              <a:rPr lang="en-US" dirty="0">
                <a:latin typeface="Times New Roman" panose="02020603050405020304" pitchFamily="18" charset="0"/>
                <a:cs typeface="Times New Roman" panose="02020603050405020304" pitchFamily="18" charset="0"/>
              </a:rPr>
            </a:b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Identification of important academic factors affecting student success.</a:t>
            </a:r>
            <a:br>
              <a:rPr lang="en-US" dirty="0">
                <a:latin typeface="Times New Roman" panose="02020603050405020304" pitchFamily="18" charset="0"/>
                <a:cs typeface="Times New Roman" panose="02020603050405020304" pitchFamily="18" charset="0"/>
              </a:rPr>
            </a:br>
            <a:endParaRPr kumimoji="0" lang="en-GB"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Use of evaluation metrics such as Accuracy, Precision, Recall, and F1-score.</a:t>
            </a:r>
            <a:br>
              <a:rPr lang="en-US" dirty="0">
                <a:latin typeface="Times New Roman" panose="02020603050405020304" pitchFamily="18" charset="0"/>
                <a:cs typeface="Times New Roman" panose="02020603050405020304" pitchFamily="18" charset="0"/>
              </a:rPr>
            </a:b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Understanding how machine learning can support educational decision-making and early intervention systems.</a:t>
            </a:r>
            <a:endParaRPr kumimoji="0" lang="en-US" altLang="en-US" sz="185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8707288"/>
      </p:ext>
    </p:extLst>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6F46A-F75D-2525-D584-3BAEDD8CD7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4046805-E97A-37FF-A0FB-C25DB7E95262}"/>
              </a:ext>
            </a:extLst>
          </p:cNvPr>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Technology Stack</a:t>
            </a:r>
          </a:p>
        </p:txBody>
      </p:sp>
      <p:sp>
        <p:nvSpPr>
          <p:cNvPr id="6" name="Rectangle 5">
            <a:extLst>
              <a:ext uri="{FF2B5EF4-FFF2-40B4-BE49-F238E27FC236}">
                <a16:creationId xmlns:a16="http://schemas.microsoft.com/office/drawing/2014/main" id="{5E1D8376-05BD-8706-01A2-D5698C558A99}"/>
              </a:ext>
            </a:extLst>
          </p:cNvPr>
          <p:cNvSpPr/>
          <p:nvPr/>
        </p:nvSpPr>
        <p:spPr>
          <a:xfrm>
            <a:off x="251520" y="1124744"/>
            <a:ext cx="8640960" cy="3693319"/>
          </a:xfrm>
          <a:prstGeom prst="rect">
            <a:avLst/>
          </a:prstGeom>
        </p:spPr>
        <p:txBody>
          <a:bodyPr wrap="square">
            <a:spAutoFit/>
          </a:bodyPr>
          <a:lstStyle/>
          <a:p>
            <a:pPr marL="342900" indent="-34290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Programming Language: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 Python</a:t>
            </a:r>
          </a:p>
          <a:p>
            <a:pPr marL="342900" indent="-34290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Libraries Used:</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Pandas</a:t>
            </a:r>
            <a:r>
              <a:rPr lang="en-US" dirty="0">
                <a:latin typeface="Times New Roman" panose="02020603050405020304" pitchFamily="18" charset="0"/>
                <a:cs typeface="Times New Roman" panose="02020603050405020304" pitchFamily="18" charset="0"/>
              </a:rPr>
              <a:t> – data handling and preprocessing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NumPy</a:t>
            </a:r>
            <a:r>
              <a:rPr lang="en-US" dirty="0">
                <a:latin typeface="Times New Roman" panose="02020603050405020304" pitchFamily="18" charset="0"/>
                <a:cs typeface="Times New Roman" panose="02020603050405020304" pitchFamily="18" charset="0"/>
              </a:rPr>
              <a:t> – numerical computations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Matplotlib and Seaborn </a:t>
            </a:r>
            <a:r>
              <a:rPr lang="en-US" dirty="0">
                <a:latin typeface="Times New Roman" panose="02020603050405020304" pitchFamily="18" charset="0"/>
                <a:cs typeface="Times New Roman" panose="02020603050405020304" pitchFamily="18" charset="0"/>
              </a:rPr>
              <a:t>– data visualization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Scikit-learn</a:t>
            </a:r>
            <a:r>
              <a:rPr lang="en-US" dirty="0">
                <a:latin typeface="Times New Roman" panose="02020603050405020304" pitchFamily="18" charset="0"/>
                <a:cs typeface="Times New Roman" panose="02020603050405020304" pitchFamily="18" charset="0"/>
              </a:rPr>
              <a:t> – machine learning model implementation</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Development Environment: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VS code </a:t>
            </a:r>
          </a:p>
          <a:p>
            <a:pPr marL="342900" indent="-34290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Dataset Source:</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UCI Machine Learning Repository   </a:t>
            </a:r>
          </a:p>
        </p:txBody>
      </p:sp>
    </p:spTree>
    <p:extLst>
      <p:ext uri="{BB962C8B-B14F-4D97-AF65-F5344CB8AC3E}">
        <p14:creationId xmlns:p14="http://schemas.microsoft.com/office/powerpoint/2010/main" val="3090438651"/>
      </p:ext>
    </p:extLst>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Results and Output</a:t>
            </a:r>
          </a:p>
        </p:txBody>
      </p:sp>
      <p:sp>
        <p:nvSpPr>
          <p:cNvPr id="3" name="TextBox 2">
            <a:extLst>
              <a:ext uri="{FF2B5EF4-FFF2-40B4-BE49-F238E27FC236}">
                <a16:creationId xmlns:a16="http://schemas.microsoft.com/office/drawing/2014/main" id="{7C71EF74-0DAB-1283-6945-01E22207BD28}"/>
              </a:ext>
            </a:extLst>
          </p:cNvPr>
          <p:cNvSpPr txBox="1"/>
          <p:nvPr/>
        </p:nvSpPr>
        <p:spPr>
          <a:xfrm>
            <a:off x="467545" y="1196752"/>
            <a:ext cx="8424935" cy="3139321"/>
          </a:xfrm>
          <a:prstGeom prst="rect">
            <a:avLst/>
          </a:prstGeom>
          <a:noFill/>
        </p:spPr>
        <p:txBody>
          <a:bodyPr wrap="square" rtlCol="0">
            <a:spAutoFit/>
          </a:bodyPr>
          <a:lstStyle/>
          <a:p>
            <a:pPr marL="285750" indent="-285750">
              <a:buFont typeface="Wingdings" pitchFamily="2" charset="2"/>
              <a:buChar char="q"/>
            </a:pPr>
            <a:r>
              <a:rPr lang="en-US" dirty="0">
                <a:latin typeface="Times New Roman" panose="02020603050405020304" pitchFamily="18" charset="0"/>
                <a:cs typeface="Times New Roman" panose="02020603050405020304" pitchFamily="18" charset="0"/>
              </a:rPr>
              <a:t>The trained models were tested on the student dataset and evaluated using classification metrics. Logistic Regression achieved stable performance and produced interpretable results. KNN showed balanced prediction capability but required proper parameter tuning for improved performance.</a:t>
            </a:r>
          </a:p>
          <a:p>
            <a:pPr marL="285750" indent="-285750">
              <a:buFont typeface="Wingdings" pitchFamily="2" charset="2"/>
              <a:buChar char="q"/>
            </a:pPr>
            <a:endParaRPr lang="en-US" dirty="0">
              <a:latin typeface="Times New Roman" panose="02020603050405020304" pitchFamily="18" charset="0"/>
              <a:cs typeface="Times New Roman" panose="02020603050405020304" pitchFamily="18" charset="0"/>
            </a:endParaRPr>
          </a:p>
          <a:p>
            <a:pPr marL="285750" indent="-285750">
              <a:buFont typeface="Wingdings" pitchFamily="2" charset="2"/>
              <a:buChar char="q"/>
            </a:pPr>
            <a:endParaRPr lang="en-US" dirty="0">
              <a:latin typeface="Times New Roman" panose="02020603050405020304" pitchFamily="18" charset="0"/>
              <a:cs typeface="Times New Roman" panose="02020603050405020304" pitchFamily="18" charset="0"/>
            </a:endParaRPr>
          </a:p>
          <a:p>
            <a:pPr marL="285750" indent="-285750">
              <a:buFont typeface="Wingdings" pitchFamily="2" charset="2"/>
              <a:buChar char="q"/>
            </a:pPr>
            <a:endParaRPr lang="en-US" dirty="0">
              <a:latin typeface="Times New Roman" panose="02020603050405020304" pitchFamily="18" charset="0"/>
              <a:cs typeface="Times New Roman" panose="02020603050405020304" pitchFamily="18" charset="0"/>
            </a:endParaRPr>
          </a:p>
          <a:p>
            <a:pPr marL="285750" indent="-285750">
              <a:buFont typeface="Wingdings" pitchFamily="2" charset="2"/>
              <a:buChar char="q"/>
            </a:pPr>
            <a:r>
              <a:rPr lang="en-US" dirty="0">
                <a:latin typeface="Times New Roman" panose="02020603050405020304" pitchFamily="18" charset="0"/>
                <a:cs typeface="Times New Roman" panose="02020603050405020304" pitchFamily="18" charset="0"/>
              </a:rPr>
              <a:t>Support Vector Machine (SVM) achieved the highest accuracy among all models and demonstrated strong classification capability. The results indicate that machine learning algorithms can effectively predict student academic performance using educational data.</a:t>
            </a:r>
          </a:p>
        </p:txBody>
      </p:sp>
    </p:spTree>
    <p:extLst>
      <p:ext uri="{BB962C8B-B14F-4D97-AF65-F5344CB8AC3E}">
        <p14:creationId xmlns:p14="http://schemas.microsoft.com/office/powerpoint/2010/main" val="2863939616"/>
      </p:ext>
    </p:extLst>
  </p:cSld>
  <p:clrMapOvr>
    <a:masterClrMapping/>
  </p:clrMapOvr>
  <p:transition advTm="4000">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63228-6456-C514-131B-4375A940F4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F0F93DA-B7A9-4989-2D0A-FBCD334E416C}"/>
              </a:ext>
            </a:extLst>
          </p:cNvPr>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Key Findings</a:t>
            </a:r>
          </a:p>
        </p:txBody>
      </p:sp>
      <p:sp>
        <p:nvSpPr>
          <p:cNvPr id="5" name="TextBox 4">
            <a:extLst>
              <a:ext uri="{FF2B5EF4-FFF2-40B4-BE49-F238E27FC236}">
                <a16:creationId xmlns:a16="http://schemas.microsoft.com/office/drawing/2014/main" id="{FC729F98-12C4-3CD9-EDC9-006ECD0593B5}"/>
              </a:ext>
            </a:extLst>
          </p:cNvPr>
          <p:cNvSpPr txBox="1"/>
          <p:nvPr/>
        </p:nvSpPr>
        <p:spPr>
          <a:xfrm>
            <a:off x="179512" y="1052736"/>
            <a:ext cx="8784976" cy="3139321"/>
          </a:xfrm>
          <a:prstGeom prst="rect">
            <a:avLst/>
          </a:prstGeom>
          <a:noFill/>
        </p:spPr>
        <p:txBody>
          <a:bodyPr wrap="square" rtlCol="0">
            <a:spAutoFit/>
          </a:bodyPr>
          <a:lstStyle/>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Student attendance, study time, and previous grades strongly influence academic performance</a:t>
            </a:r>
          </a:p>
          <a:p>
            <a:pPr marL="285750" indent="-28575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Machine learning algorithms can accurately classify student performance levels.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SVM achieved the highest accuracy compared to Logistic Regression and KNN.</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Proper preprocessing and feature scaling significantly improved prediction performance.</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Educational institutions can use predictive systems to identify at-risk students and provide early academic support.</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3824864"/>
      </p:ext>
    </p:extLst>
  </p:cSld>
  <p:clrMapOvr>
    <a:masterClrMapping/>
  </p:clrMapOvr>
  <p:transition advTm="4000">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Conclusion</a:t>
            </a:r>
          </a:p>
        </p:txBody>
      </p:sp>
      <p:sp>
        <p:nvSpPr>
          <p:cNvPr id="3" name="Rectangle 2"/>
          <p:cNvSpPr/>
          <p:nvPr/>
        </p:nvSpPr>
        <p:spPr>
          <a:xfrm>
            <a:off x="179512" y="1052736"/>
            <a:ext cx="8784976" cy="2862322"/>
          </a:xfrm>
          <a:prstGeom prst="rect">
            <a:avLst/>
          </a:prstGeom>
        </p:spPr>
        <p:txBody>
          <a:bodyPr wrap="square">
            <a:spAutoFit/>
          </a:bodyPr>
          <a:lstStyle/>
          <a:p>
            <a:pPr marL="34290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This project successfully demonstrates the application of machine learning techniques for predicting student academic performance. By using educational data and preprocessing methods, the system was able to train classification models and evaluate their prediction capability.</a:t>
            </a:r>
          </a:p>
          <a:p>
            <a:pPr marL="342900" indent="-34290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Among the implemented algorithms, Support Vector Machine achieved the best performance. The project highlights the importance of data-driven educational systems and shows how predictive analytics can help improve learning outcomes and academic decision-making.</a:t>
            </a:r>
            <a:endParaRPr lang="en-US" sz="200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5953028"/>
      </p:ext>
    </p:extLst>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41537-4885-E61F-E856-A3F3E498F31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C8F6CB-6788-E5FB-72F2-71B6E827EE2C}"/>
              </a:ext>
            </a:extLst>
          </p:cNvPr>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Challenges Faced</a:t>
            </a:r>
          </a:p>
        </p:txBody>
      </p:sp>
      <p:sp>
        <p:nvSpPr>
          <p:cNvPr id="3" name="Rectangle 2">
            <a:extLst>
              <a:ext uri="{FF2B5EF4-FFF2-40B4-BE49-F238E27FC236}">
                <a16:creationId xmlns:a16="http://schemas.microsoft.com/office/drawing/2014/main" id="{CCA83D73-8E89-5416-CBBF-242AC548E8D0}"/>
              </a:ext>
            </a:extLst>
          </p:cNvPr>
          <p:cNvSpPr/>
          <p:nvPr/>
        </p:nvSpPr>
        <p:spPr>
          <a:xfrm>
            <a:off x="179512" y="1052736"/>
            <a:ext cx="8784976" cy="3170099"/>
          </a:xfrm>
          <a:prstGeom prst="rect">
            <a:avLst/>
          </a:prstGeom>
        </p:spPr>
        <p:txBody>
          <a:bodyPr wrap="square">
            <a:spAutoFit/>
          </a:bodyPr>
          <a:lstStyle/>
          <a:p>
            <a:pPr marL="342900" lvl="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Handling categorical and missing values in the dataset.</a:t>
            </a:r>
          </a:p>
          <a:p>
            <a:pPr marL="342900" lvl="0" indent="-34290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Selecting suitable features that affect student performance.</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Choosing the optimal parameters for machine learning models.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Preventing overfitting and improving model generalization.</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Managing preprocessing and normalization for accurate results.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Comparing multiple algorithms fairly using evaluation metrics.</a:t>
            </a:r>
            <a:endParaRPr lang="en-US"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1232825"/>
      </p:ext>
    </p:extLst>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88D35-6006-DB81-C002-0D8F1897EF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2D2E743-E659-8546-50B7-DB544E124E37}"/>
              </a:ext>
            </a:extLst>
          </p:cNvPr>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Future Scope</a:t>
            </a:r>
          </a:p>
        </p:txBody>
      </p:sp>
      <p:sp>
        <p:nvSpPr>
          <p:cNvPr id="3" name="Rectangle 2">
            <a:extLst>
              <a:ext uri="{FF2B5EF4-FFF2-40B4-BE49-F238E27FC236}">
                <a16:creationId xmlns:a16="http://schemas.microsoft.com/office/drawing/2014/main" id="{8803495D-B7DA-39CE-0ABD-E9CC0847F58E}"/>
              </a:ext>
            </a:extLst>
          </p:cNvPr>
          <p:cNvSpPr/>
          <p:nvPr/>
        </p:nvSpPr>
        <p:spPr>
          <a:xfrm>
            <a:off x="179512" y="1052736"/>
            <a:ext cx="8784976" cy="3139321"/>
          </a:xfrm>
          <a:prstGeom prst="rect">
            <a:avLst/>
          </a:prstGeom>
        </p:spPr>
        <p:txBody>
          <a:bodyPr wrap="square">
            <a:spAutoFit/>
          </a:bodyPr>
          <a:lstStyle/>
          <a:p>
            <a:pPr marL="342900" lvl="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Use larger and real-time educational datasets.</a:t>
            </a:r>
          </a:p>
          <a:p>
            <a:pPr marL="342900" lvl="0" indent="-34290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Apply advanced deep learning algorithms for improved prediction accuracy.</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Develop a web or mobile application for real-time academic monitoring.</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Integrate the system with educational institutions and learning management systems.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Use real-time dashboards and analytics for teachers and students.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Extend the system to predict dropout rates and learning difficulties.</a:t>
            </a:r>
            <a:endParaRPr lang="en-US"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8914690"/>
      </p:ext>
    </p:extLst>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227A6-2335-D11F-8A71-9952AE4F00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43B7EF-3F40-B125-CF76-7CCE8CD4BD54}"/>
              </a:ext>
            </a:extLst>
          </p:cNvPr>
          <p:cNvSpPr txBox="1"/>
          <p:nvPr/>
        </p:nvSpPr>
        <p:spPr>
          <a:xfrm>
            <a:off x="0" y="260648"/>
            <a:ext cx="5436096" cy="1077218"/>
          </a:xfrm>
          <a:prstGeom prst="rect">
            <a:avLst/>
          </a:prstGeom>
          <a:noFill/>
        </p:spPr>
        <p:txBody>
          <a:bodyPr wrap="square" rtlCol="0">
            <a:spAutoFit/>
          </a:bodyPr>
          <a:lstStyle/>
          <a:p>
            <a:r>
              <a:rPr lang="en-US" sz="3200" dirty="0"/>
              <a:t>Machine Learning Code Used</a:t>
            </a:r>
          </a:p>
          <a:p>
            <a:endParaRPr lang="en-US" sz="3200" b="1" dirty="0">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2F6C9F61-B031-980C-F8C0-9E0E14E22581}"/>
              </a:ext>
            </a:extLst>
          </p:cNvPr>
          <p:cNvSpPr/>
          <p:nvPr/>
        </p:nvSpPr>
        <p:spPr>
          <a:xfrm>
            <a:off x="179512" y="1052736"/>
            <a:ext cx="8784976" cy="3693319"/>
          </a:xfrm>
          <a:prstGeom prst="rect">
            <a:avLst/>
          </a:prstGeom>
        </p:spPr>
        <p:txBody>
          <a:bodyPr wrap="square">
            <a:spAutoFit/>
          </a:bodyPr>
          <a:lstStyle/>
          <a:p>
            <a:pPr lvl="0"/>
            <a:r>
              <a:rPr lang="en-US" dirty="0">
                <a:latin typeface="Times New Roman" panose="02020603050405020304" pitchFamily="18" charset="0"/>
                <a:cs typeface="Times New Roman" panose="02020603050405020304" pitchFamily="18" charset="0"/>
              </a:rPr>
              <a:t>The implementation of this project was done in Python using </a:t>
            </a:r>
            <a:r>
              <a:rPr lang="en-US" dirty="0" err="1">
                <a:latin typeface="Times New Roman" panose="02020603050405020304" pitchFamily="18" charset="0"/>
                <a:cs typeface="Times New Roman" panose="02020603050405020304" pitchFamily="18" charset="0"/>
              </a:rPr>
              <a:t>Jupyter</a:t>
            </a:r>
            <a:r>
              <a:rPr lang="en-US" dirty="0">
                <a:latin typeface="Times New Roman" panose="02020603050405020304" pitchFamily="18" charset="0"/>
                <a:cs typeface="Times New Roman" panose="02020603050405020304" pitchFamily="18" charset="0"/>
              </a:rPr>
              <a:t> Notebook. The notebook included dataset loading, preprocessing, visualization, feature scaling, and model training.</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The code imported important libraries such as Pandas, NumPy, Matplotlib, Seaborn, and Scikit-learn. Three machine learning algorithms were implemented: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LogisticRegression</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KNeighborsClassifier</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SVC()</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The dataset was converted into numerical format using mapping functions and feature scaling techniques were applied before training. Models were trained using </a:t>
            </a:r>
            <a:r>
              <a:rPr lang="en-US" dirty="0" err="1">
                <a:latin typeface="Times New Roman" panose="02020603050405020304" pitchFamily="18" charset="0"/>
                <a:cs typeface="Times New Roman" panose="02020603050405020304" pitchFamily="18" charset="0"/>
              </a:rPr>
              <a:t>train_test_split</a:t>
            </a:r>
            <a:r>
              <a:rPr lang="en-US" dirty="0">
                <a:latin typeface="Times New Roman" panose="02020603050405020304" pitchFamily="18" charset="0"/>
                <a:cs typeface="Times New Roman" panose="02020603050405020304" pitchFamily="18" charset="0"/>
              </a:rPr>
              <a:t>() and evaluated using classification metrics and confusion matrices.</a:t>
            </a:r>
            <a:endParaRPr lang="en-US"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8887395"/>
      </p:ext>
    </p:extLst>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AutoShape 4"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2" name="AutoShape 8"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4" name="Picture 10" descr="Thank you cards Images | Free Vectors, Stock Photos &amp; PSD"/>
          <p:cNvPicPr>
            <a:picLocks noChangeAspect="1" noChangeArrowheads="1"/>
          </p:cNvPicPr>
          <p:nvPr/>
        </p:nvPicPr>
        <p:blipFill>
          <a:blip r:embed="rId2" cstate="print"/>
          <a:srcRect/>
          <a:stretch>
            <a:fillRect/>
          </a:stretch>
        </p:blipFill>
        <p:spPr bwMode="auto">
          <a:xfrm>
            <a:off x="304800" y="1124744"/>
            <a:ext cx="8460432" cy="5353905"/>
          </a:xfrm>
          <a:prstGeom prst="rect">
            <a:avLst/>
          </a:prstGeom>
          <a:noFill/>
        </p:spPr>
      </p:pic>
    </p:spTree>
  </p:cSld>
  <p:clrMapOvr>
    <a:masterClrMapping/>
  </p:clrMapOvr>
  <p:transition advTm="4000">
    <p:cut/>
  </p:transition>
</p:sld>
</file>

<file path=ppt/theme/theme1.xml><?xml version="1.0" encoding="utf-8"?>
<a:theme xmlns:a="http://schemas.openxmlformats.org/drawingml/2006/main" name="Bubble Sor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3195</TotalTime>
  <Words>1184</Words>
  <Application>Microsoft Macintosh PowerPoint</Application>
  <PresentationFormat>On-screen Show (4:3)</PresentationFormat>
  <Paragraphs>102</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Times New Roman</vt:lpstr>
      <vt:lpstr>Wingdings</vt:lpstr>
      <vt:lpstr>Bubble Sort</vt:lpstr>
      <vt:lpstr>PowerPoint Presentation</vt:lpstr>
      <vt:lpstr>PowerPoint Presentation</vt:lpstr>
      <vt:lpstr>Introduction</vt:lpstr>
      <vt:lpstr>PowerPoint Presentation</vt:lpstr>
      <vt:lpstr>Objective</vt:lpstr>
      <vt:lpstr>Methodology</vt:lpstr>
      <vt:lpstr>System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Cricket</dc:title>
  <dc:creator>abc</dc:creator>
  <cp:lastModifiedBy>Nitin Chaudhary</cp:lastModifiedBy>
  <cp:revision>134</cp:revision>
  <dcterms:created xsi:type="dcterms:W3CDTF">2022-12-12T14:14:34Z</dcterms:created>
  <dcterms:modified xsi:type="dcterms:W3CDTF">2026-05-13T17:59:47Z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2024-05-15T12:29:59Z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72cdbcd3-6b3c-467e-b9b8-018dc42d10b7</vt:lpwstr>
  </property>
  <property fmtid="{D5CDD505-2E9C-101B-9397-08002B2CF9AE}" pid="7" name="MSIP_Label_defa4170-0d19-0005-0004-bc88714345d2_ActionId">
    <vt:lpwstr>cad06670-6b62-47c2-8dce-60115a911aec</vt:lpwstr>
  </property>
  <property fmtid="{D5CDD505-2E9C-101B-9397-08002B2CF9AE}" pid="8" name="MSIP_Label_defa4170-0d19-0005-0004-bc88714345d2_ContentBits">
    <vt:lpwstr>0</vt:lpwstr>
  </property>
</Properties>
</file>